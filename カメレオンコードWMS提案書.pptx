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0"/>
            <a:ext cx="2286000" cy="51435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389120"/>
            <a:ext cx="6858000" cy="758952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pic>
        <p:nvPicPr>
          <p:cNvPr id="4" name="Image 0" descr="/sessions/amazing-serene-darwin/mnt/IroatoReader/cc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0" y="274320"/>
            <a:ext cx="1920240" cy="771754"/>
          </a:xfrm>
          <a:prstGeom prst="rect">
            <a:avLst/>
          </a:prstGeom>
        </p:spPr>
      </p:pic>
      <p:pic>
        <p:nvPicPr>
          <p:cNvPr id="5" name="Image 1" descr="/sessions/amazing-serene-darwin/mnt/IroatoReader/cc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0880" y="1155802"/>
            <a:ext cx="1920240" cy="771754"/>
          </a:xfrm>
          <a:prstGeom prst="rect">
            <a:avLst/>
          </a:prstGeom>
        </p:spPr>
      </p:pic>
      <p:pic>
        <p:nvPicPr>
          <p:cNvPr id="6" name="Image 2" descr="/sessions/amazing-serene-darwin/mnt/IroatoReader/cc3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0880" y="2037283"/>
            <a:ext cx="1920240" cy="771754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457200" y="2743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B4D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InfoFarm Co., Ltd.</a:t>
            </a:r>
            <a:endParaRPr lang="en-US" sz="1200" dirty="0"/>
          </a:p>
        </p:txBody>
      </p:sp>
      <p:sp>
        <p:nvSpPr>
          <p:cNvPr id="8" name="Text 3"/>
          <p:cNvSpPr/>
          <p:nvPr/>
        </p:nvSpPr>
        <p:spPr>
          <a:xfrm>
            <a:off x="457200" y="914400"/>
            <a:ext cx="6400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カメレオンコード</a:t>
            </a:r>
            <a:endParaRPr lang="en-US" sz="5200" dirty="0"/>
          </a:p>
        </p:txBody>
      </p:sp>
      <p:sp>
        <p:nvSpPr>
          <p:cNvPr id="9" name="Text 4"/>
          <p:cNvSpPr/>
          <p:nvPr/>
        </p:nvSpPr>
        <p:spPr>
          <a:xfrm>
            <a:off x="457200" y="1783080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00B4D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WMSソリューション</a:t>
            </a:r>
            <a:endParaRPr lang="en-US" sz="3600" dirty="0"/>
          </a:p>
        </p:txBody>
      </p:sp>
      <p:sp>
        <p:nvSpPr>
          <p:cNvPr id="10" name="Text 5"/>
          <p:cNvSpPr/>
          <p:nvPr/>
        </p:nvSpPr>
        <p:spPr>
          <a:xfrm>
            <a:off x="457200" y="2697480"/>
            <a:ext cx="6217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B0C4D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「製品がどこにある？」を瞬時に解決する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B0C4D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カラーコード認識型 次世代倉庫管理システム</a:t>
            </a:r>
            <a:endParaRPr lang="en-US" sz="1500" dirty="0"/>
          </a:p>
        </p:txBody>
      </p:sp>
      <p:sp>
        <p:nvSpPr>
          <p:cNvPr id="11" name="Text 6"/>
          <p:cNvSpPr/>
          <p:nvPr/>
        </p:nvSpPr>
        <p:spPr>
          <a:xfrm>
            <a:off x="457200" y="45720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提案書　2026年</a:t>
            </a:r>
            <a:endParaRPr lang="en-US" sz="1100" dirty="0"/>
          </a:p>
        </p:txBody>
      </p:sp>
      <p:sp>
        <p:nvSpPr>
          <p:cNvPr id="12" name="Text 7"/>
          <p:cNvSpPr/>
          <p:nvPr/>
        </p:nvSpPr>
        <p:spPr>
          <a:xfrm>
            <a:off x="2286000" y="48006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>
                    <a:alpha val="60000"/>
                  </a:srgbClr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© 2026 InfoFarm Co., Ltd. All Rights Reserved</a:t>
            </a:r>
            <a:endParaRPr lang="en-US" sz="800" dirty="0"/>
          </a:p>
        </p:txBody>
      </p:sp>
      <p:sp>
        <p:nvSpPr>
          <p:cNvPr id="13" name="Text 8"/>
          <p:cNvSpPr/>
          <p:nvPr/>
        </p:nvSpPr>
        <p:spPr>
          <a:xfrm>
            <a:off x="7772400" y="48006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>
                    <a:alpha val="60000"/>
                  </a:srgbClr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 / 13</a:t>
            </a:r>
            <a:endParaRPr lang="en-US" sz="800" dirty="0"/>
          </a:p>
        </p:txBody>
      </p:sp>
      <p:sp>
        <p:nvSpPr>
          <p:cNvPr id="14" name="Text 9"/>
          <p:cNvSpPr/>
          <p:nvPr/>
        </p:nvSpPr>
        <p:spPr>
          <a:xfrm>
            <a:off x="7132320" y="13716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Confidential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目  次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143000"/>
            <a:ext cx="41148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143000"/>
            <a:ext cx="64008" cy="10058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216152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B4D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60120" y="1216152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カメレオンコードとは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60120" y="160020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独自カラーコード技術の概要と仕組み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754880" y="1143000"/>
            <a:ext cx="41148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54880" y="1143000"/>
            <a:ext cx="64008" cy="10058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92040" y="1216152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B4D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5349240" y="1216152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従来バーコードとの比較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349240" y="160020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読み取り精度・速度・コストの比較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65760" y="2377440"/>
            <a:ext cx="41148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65760" y="2377440"/>
            <a:ext cx="64008" cy="10058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2450592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B4D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960120" y="2450592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WMS処理フロー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960120" y="283464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入庫→ロケーション→ピッキング→出荷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754880" y="2377440"/>
            <a:ext cx="41148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54880" y="2377440"/>
            <a:ext cx="64008" cy="10058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92040" y="2450592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B4D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5349240" y="2450592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各機能のご紹介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349240" y="283464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エリアロケーション・カメラ検索機能付き詳細説明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65760" y="3611880"/>
            <a:ext cx="41148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65760" y="3611880"/>
            <a:ext cx="64008" cy="10058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2920" y="3685032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B4D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05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960120" y="3685032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管理ダッシュボード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960120" y="406908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リアルタイム在庫・製品所在地モニタリング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754880" y="3611880"/>
            <a:ext cx="41148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754880" y="3611880"/>
            <a:ext cx="64008" cy="10058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92040" y="3685032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B4D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06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5349240" y="3685032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導入メリット・期待効果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5349240" y="406908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製品探索時間90%削減・工数削減・ミス率低下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2286000" y="48006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© 2026 InfoFarm Co., Ltd. All Rights Reserved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7772400" y="48006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 / 13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7132320" y="13716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EF444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Confidential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カメレオンコードとは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3657600" cy="3657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18872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0B4D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InfoFarm独自開発のカラーマトリクスコード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691640"/>
            <a:ext cx="54864" cy="38404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691640"/>
            <a:ext cx="4846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1E8F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シアン・マゼンタ・イエロー・黒の4色で構成されたカラーマトリクスコード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2240280"/>
            <a:ext cx="54864" cy="38404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2240280"/>
            <a:ext cx="4846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1E8F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スマートフォンのカメラで瞬時に読み取り可能（専用スキャナー不要）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2788920"/>
            <a:ext cx="54864" cy="38404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2788920"/>
            <a:ext cx="4846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1E8F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ロケーションコードと組み合わせ、製品の保管エリア・棚を瞬時に特定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3337560"/>
            <a:ext cx="54864" cy="38404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3337560"/>
            <a:ext cx="4846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1E8F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独自エンコードにより高いセキュリティと改ざん検知を実現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3886200"/>
            <a:ext cx="54864" cy="38404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3886200"/>
            <a:ext cx="4846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1E8F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カメラ距離・角度・照明変化に強いロバストな認識エンジン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852160" y="457200"/>
            <a:ext cx="2926080" cy="4114800"/>
          </a:xfrm>
          <a:prstGeom prst="rect">
            <a:avLst/>
          </a:prstGeom>
          <a:solidFill>
            <a:srgbClr val="0A1628"/>
          </a:solidFill>
          <a:ln w="12700">
            <a:solidFill>
              <a:srgbClr val="0096B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852160" y="54864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B4D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カメレオンコード</a:t>
            </a:r>
            <a:endParaRPr lang="en-US" sz="1100" dirty="0"/>
          </a:p>
        </p:txBody>
      </p:sp>
      <p:pic>
        <p:nvPicPr>
          <p:cNvPr id="17" name="Image 0" descr="/sessions/amazing-serene-darwin/mnt/IroatoReader/cc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72200" y="1005840"/>
            <a:ext cx="2286000" cy="918972"/>
          </a:xfrm>
          <a:prstGeom prst="rect">
            <a:avLst/>
          </a:prstGeom>
        </p:spPr>
      </p:pic>
      <p:pic>
        <p:nvPicPr>
          <p:cNvPr id="18" name="Image 1" descr="/sessions/amazing-serene-darwin/mnt/IroatoReader/cc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200" y="2153412"/>
            <a:ext cx="2286000" cy="918972"/>
          </a:xfrm>
          <a:prstGeom prst="rect">
            <a:avLst/>
          </a:prstGeom>
        </p:spPr>
      </p:pic>
      <p:pic>
        <p:nvPicPr>
          <p:cNvPr id="19" name="Image 2" descr="/sessions/amazing-serene-darwin/mnt/IroatoReader/cc3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3300984"/>
            <a:ext cx="2286000" cy="918972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5852160" y="4311396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各コードは固有ID・製品情報を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カラーパターンにエンコード</a:t>
            </a:r>
            <a:endParaRPr lang="en-US" sz="900" dirty="0"/>
          </a:p>
        </p:txBody>
      </p:sp>
      <p:sp>
        <p:nvSpPr>
          <p:cNvPr id="21" name="Text 16"/>
          <p:cNvSpPr/>
          <p:nvPr/>
        </p:nvSpPr>
        <p:spPr>
          <a:xfrm>
            <a:off x="2286000" y="48006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>
                    <a:alpha val="60000"/>
                  </a:srgbClr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© 2026 InfoFarm Co., Ltd. All Rights Reserved</a:t>
            </a:r>
            <a:endParaRPr lang="en-US" sz="800" dirty="0"/>
          </a:p>
        </p:txBody>
      </p:sp>
      <p:sp>
        <p:nvSpPr>
          <p:cNvPr id="22" name="Text 17"/>
          <p:cNvSpPr/>
          <p:nvPr/>
        </p:nvSpPr>
        <p:spPr>
          <a:xfrm>
            <a:off x="7772400" y="48006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>
                    <a:alpha val="60000"/>
                  </a:srgbClr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 / 13</a:t>
            </a:r>
            <a:endParaRPr lang="en-US" sz="800" dirty="0"/>
          </a:p>
        </p:txBody>
      </p:sp>
      <p:sp>
        <p:nvSpPr>
          <p:cNvPr id="23" name="Text 18"/>
          <p:cNvSpPr/>
          <p:nvPr/>
        </p:nvSpPr>
        <p:spPr>
          <a:xfrm>
            <a:off x="7132320" y="13716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Confidential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従来バーコードとの比較</a:t>
            </a:r>
            <a:endParaRPr lang="en-US" sz="28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005840"/>
          <a:ext cx="8412480" cy="3566160"/>
        </p:xfrm>
        <a:graphic>
          <a:graphicData uri="http://schemas.openxmlformats.org/drawingml/2006/table">
            <a:tbl>
              <a:tblPr/>
              <a:tblGrid>
                <a:gridCol w="1645920"/>
                <a:gridCol w="2011680"/>
                <a:gridCol w="2011680"/>
                <a:gridCol w="274320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比較項目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従来バーコード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728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QRコード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728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カメレオンコード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4D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E293B"/>
                          </a:solidFill>
                        </a:rPr>
                        <a:t>読み取り機器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</a:rPr>
                        <a:t>専用スキャナー必要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</a:rPr>
                        <a:t>スマホカメラ可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369A1"/>
                          </a:solidFill>
                        </a:rPr>
                        <a:t>◎ スマホカメラのみ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E293B"/>
                          </a:solidFill>
                        </a:rPr>
                        <a:t>情報量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</a:rPr>
                        <a:t>低（数十文字）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</a:rPr>
                        <a:t>中（数百文字）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369A1"/>
                          </a:solidFill>
                        </a:rPr>
                        <a:t>◎ 高（独自エンコード）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E293B"/>
                          </a:solidFill>
                        </a:rPr>
                        <a:t>汚損への耐性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F4444"/>
                          </a:solidFill>
                        </a:rPr>
                        <a:t>× 弱い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2C55E"/>
                          </a:solidFill>
                        </a:rPr>
                        <a:t>◯ 普通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369A1"/>
                          </a:solidFill>
                        </a:rPr>
                        <a:t>◎ 強い（多色冗長）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E293B"/>
                          </a:solidFill>
                        </a:rPr>
                        <a:t>セキュリティ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F4444"/>
                          </a:solidFill>
                        </a:rPr>
                        <a:t>× なし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</a:rPr>
                        <a:t>△ 基本のみ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369A1"/>
                          </a:solidFill>
                        </a:rPr>
                        <a:t>◎ 独自暗号化対応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E293B"/>
                          </a:solidFill>
                        </a:rPr>
                        <a:t>ロケーション連携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F4444"/>
                          </a:solidFill>
                        </a:rPr>
                        <a:t>× 別途管理必要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</a:rPr>
                        <a:t>△ 要カスタム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369A1"/>
                          </a:solidFill>
                        </a:rPr>
                        <a:t>◎ エリア紐付け標準対応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E293B"/>
                          </a:solidFill>
                        </a:rPr>
                        <a:t>導入コスト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F4444"/>
                          </a:solidFill>
                        </a:rPr>
                        <a:t>× スキャナー投資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2C55E"/>
                          </a:solidFill>
                        </a:rPr>
                        <a:t>◯ 低コスト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369A1"/>
                          </a:solidFill>
                        </a:rPr>
                        <a:t>◎ 最低限（スマホのみ）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E293B"/>
                          </a:solidFill>
                        </a:rPr>
                        <a:t>既存システム連携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</a:rPr>
                        <a:t>△ 要改修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2C55E"/>
                          </a:solidFill>
                        </a:rPr>
                        <a:t>◯ 標準的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369A1"/>
                          </a:solidFill>
                        </a:rPr>
                        <a:t>◎ API連携対応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2286000" y="48006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© 2026 InfoFarm Co., Ltd. All Rights Reserved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7772400" y="48006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 / 13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7132320" y="13716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EF444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Confidential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WMS 処理フロー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182880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097280"/>
            <a:ext cx="1828800" cy="5029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115568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365760" y="169164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B4D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IN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365760" y="224028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入庫処理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57200" y="288036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バーコード＋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CCコードスキャン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94360" y="3703320"/>
            <a:ext cx="1371600" cy="2743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2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94360" y="3703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CCコード使用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212848" y="2514600"/>
            <a:ext cx="228600" cy="73152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194560" y="2395728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</a:rPr>
              <a:t>▶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2468880" y="1097280"/>
            <a:ext cx="182880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468880" y="1097280"/>
            <a:ext cx="1828800" cy="50292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468880" y="1115568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02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2468880" y="169164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2C55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LOC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2468880" y="224028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ロケーション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登録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2560320" y="288036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ロケCC＋製品CC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エリアに紐付け登録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697480" y="3703320"/>
            <a:ext cx="1371600" cy="27432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2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2697480" y="3703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CCコード使用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315968" y="2514600"/>
            <a:ext cx="228600" cy="73152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297680" y="2395728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</a:rPr>
              <a:t>▶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4572000" y="1097280"/>
            <a:ext cx="182880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572000" y="1097280"/>
            <a:ext cx="1828800" cy="50292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0" y="1115568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03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4572000" y="169164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8B5CF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PICK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4572000" y="224028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ピッキング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4663440" y="288036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CCコードで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製品所在を即確認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800600" y="3703320"/>
            <a:ext cx="1371600" cy="27432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20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4800600" y="3703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CCコード使用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6419088" y="2514600"/>
            <a:ext cx="228600" cy="73152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400800" y="2395728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</a:rPr>
              <a:t>▶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6675120" y="1097280"/>
            <a:ext cx="182880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2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675120" y="1097280"/>
            <a:ext cx="1828800" cy="5029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675120" y="1115568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04</a:t>
            </a:r>
            <a:endParaRPr lang="en-US" sz="2000" dirty="0"/>
          </a:p>
        </p:txBody>
      </p:sp>
      <p:sp>
        <p:nvSpPr>
          <p:cNvPr id="37" name="Text 35"/>
          <p:cNvSpPr/>
          <p:nvPr/>
        </p:nvSpPr>
        <p:spPr>
          <a:xfrm>
            <a:off x="6675120" y="169164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9E0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OUT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6675120" y="224028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出荷処理</a:t>
            </a:r>
            <a:endParaRPr lang="en-US" sz="1500" dirty="0"/>
          </a:p>
        </p:txBody>
      </p:sp>
      <p:sp>
        <p:nvSpPr>
          <p:cNvPr id="39" name="Text 37"/>
          <p:cNvSpPr/>
          <p:nvPr/>
        </p:nvSpPr>
        <p:spPr>
          <a:xfrm>
            <a:off x="6766560" y="288036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CC確認＋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出荷確定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6903720" y="3703320"/>
            <a:ext cx="1371600" cy="2743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20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6903720" y="3703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CCコード使用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457200" y="41148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全工程でカメレオンコードを活用 — スマートフォン1台でロケーション管理から製品追跡まで完結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2286000" y="48006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© 2026 InfoFarm Co., Ltd. All Rights Reserved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7772400" y="48006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5 / 13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7132320" y="13716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EF444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Confidential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411480" cy="9144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37160"/>
            <a:ext cx="6858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機能① 入庫処理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7132320" y="182880"/>
            <a:ext cx="1737360" cy="502920"/>
          </a:xfrm>
          <a:prstGeom prst="round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B4D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入庫管理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005840"/>
            <a:ext cx="2148840" cy="3886200"/>
          </a:xfrm>
          <a:prstGeom prst="rect">
            <a:avLst/>
          </a:prstGeom>
          <a:solidFill>
            <a:srgbClr val="1A1A2E"/>
          </a:solidFill>
          <a:ln w="12700">
            <a:solidFill>
              <a:srgbClr val="2D2D4E"/>
            </a:solidFill>
            <a:prstDash val="solid"/>
          </a:ln>
          <a:effectLst>
            <a:outerShdw sx="100000" sy="100000" kx="0" ky="0" algn="bl" rotWithShape="0" blurRad="254000" dist="50800" dir="8100000">
              <a:srgbClr val="000000">
                <a:alpha val="3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252728" y="1097280"/>
            <a:ext cx="201168" cy="73152"/>
          </a:xfrm>
          <a:prstGeom prst="ellipse">
            <a:avLst/>
          </a:prstGeom>
          <a:solidFill>
            <a:srgbClr val="333355"/>
          </a:solidFill>
          <a:ln w="12700">
            <a:solidFill>
              <a:srgbClr val="333355"/>
            </a:solidFill>
            <a:prstDash val="solid"/>
          </a:ln>
        </p:spPr>
      </p:sp>
      <p:pic>
        <p:nvPicPr>
          <p:cNvPr id="8" name="Image 0" descr="/sessions/amazing-serene-darwin/screenshots/nyuk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5488" y="1207008"/>
            <a:ext cx="1920240" cy="356616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2880360" y="1143000"/>
            <a:ext cx="585216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2880360" y="1143000"/>
            <a:ext cx="54864" cy="65836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2999232" y="1179576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3ステップで確実な入庫登録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2999232" y="1472184"/>
            <a:ext cx="5577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バーコードスキャン → CCコードスキャン → 確認・登録の流れで入庫完了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2880360" y="1901952"/>
            <a:ext cx="585216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2880360" y="1901952"/>
            <a:ext cx="54864" cy="65836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2999232" y="1938528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バーコード＋CCコードの二重確認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2999232" y="2231136"/>
            <a:ext cx="5577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現品票のバーコードで製品特定、CCコードで個体認証。誤入庫ゼロへ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2880360" y="2660904"/>
            <a:ext cx="585216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2880360" y="2660904"/>
            <a:ext cx="54864" cy="65836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2999232" y="269748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製品マスタと自動照合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2999232" y="2990088"/>
            <a:ext cx="5577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入庫時に製品マスタを自動参照。未登録製品のアラートも即時検知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2880360" y="3419856"/>
            <a:ext cx="585216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2880360" y="3419856"/>
            <a:ext cx="54864" cy="65836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2999232" y="3456432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本日の入庫履歴をリアルタイム表示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2999232" y="3749040"/>
            <a:ext cx="5577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作業中いつでも当日分の処理済み件数を確認可能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2880360" y="4178808"/>
            <a:ext cx="585216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2880360" y="4178808"/>
            <a:ext cx="54864" cy="65836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2999232" y="4215384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スマートフォン1台で完結</a:t>
            </a:r>
            <a:endParaRPr lang="en-US" sz="1300" dirty="0"/>
          </a:p>
        </p:txBody>
      </p:sp>
      <p:sp>
        <p:nvSpPr>
          <p:cNvPr id="28" name="Text 25"/>
          <p:cNvSpPr/>
          <p:nvPr/>
        </p:nvSpPr>
        <p:spPr>
          <a:xfrm>
            <a:off x="2999232" y="4507992"/>
            <a:ext cx="5577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専用スキャナー不要。iPhoneのカメラでCCコードを即時認識</a:t>
            </a:r>
            <a:endParaRPr lang="en-US" sz="1100" dirty="0"/>
          </a:p>
        </p:txBody>
      </p:sp>
      <p:sp>
        <p:nvSpPr>
          <p:cNvPr id="29" name="Text 26"/>
          <p:cNvSpPr/>
          <p:nvPr/>
        </p:nvSpPr>
        <p:spPr>
          <a:xfrm>
            <a:off x="2286000" y="48006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© 2026 InfoFarm Co., Ltd. All Rights Reserved</a:t>
            </a:r>
            <a:endParaRPr lang="en-US" sz="800" dirty="0"/>
          </a:p>
        </p:txBody>
      </p:sp>
      <p:sp>
        <p:nvSpPr>
          <p:cNvPr id="30" name="Text 27"/>
          <p:cNvSpPr/>
          <p:nvPr/>
        </p:nvSpPr>
        <p:spPr>
          <a:xfrm>
            <a:off x="7772400" y="48006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6 / 13</a:t>
            </a:r>
            <a:endParaRPr lang="en-US" sz="800" dirty="0"/>
          </a:p>
        </p:txBody>
      </p:sp>
      <p:sp>
        <p:nvSpPr>
          <p:cNvPr id="31" name="Text 28"/>
          <p:cNvSpPr/>
          <p:nvPr/>
        </p:nvSpPr>
        <p:spPr>
          <a:xfrm>
            <a:off x="7132320" y="13716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EF444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Confidential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411480" cy="91440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37160"/>
            <a:ext cx="6858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機能② エリアロケーション管理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7132320" y="182880"/>
            <a:ext cx="1737360" cy="502920"/>
          </a:xfrm>
          <a:prstGeom prst="round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2C55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ロケーション管理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005840"/>
            <a:ext cx="2148840" cy="3886200"/>
          </a:xfrm>
          <a:prstGeom prst="rect">
            <a:avLst/>
          </a:prstGeom>
          <a:solidFill>
            <a:srgbClr val="1A1A2E"/>
          </a:solidFill>
          <a:ln w="12700">
            <a:solidFill>
              <a:srgbClr val="2D2D4E"/>
            </a:solidFill>
            <a:prstDash val="solid"/>
          </a:ln>
          <a:effectLst>
            <a:outerShdw sx="100000" sy="100000" kx="0" ky="0" algn="bl" rotWithShape="0" blurRad="254000" dist="50800" dir="8100000">
              <a:srgbClr val="000000">
                <a:alpha val="3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252728" y="1097280"/>
            <a:ext cx="201168" cy="73152"/>
          </a:xfrm>
          <a:prstGeom prst="ellipse">
            <a:avLst/>
          </a:prstGeom>
          <a:solidFill>
            <a:srgbClr val="333355"/>
          </a:solidFill>
          <a:ln w="12700">
            <a:solidFill>
              <a:srgbClr val="333355"/>
            </a:solidFill>
            <a:prstDash val="solid"/>
          </a:ln>
        </p:spPr>
      </p:sp>
      <p:pic>
        <p:nvPicPr>
          <p:cNvPr id="8" name="Image 0" descr="/sessions/amazing-serene-darwin/screenshots/loca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5488" y="1207008"/>
            <a:ext cx="1920240" cy="356616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2880360" y="1143000"/>
            <a:ext cx="585216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2880360" y="1143000"/>
            <a:ext cx="54864" cy="658368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2999232" y="1179576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「製品がどこにある？」を瞬時に解決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2999232" y="1472184"/>
            <a:ext cx="5577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棚・エリアのCCコードをスキャンするだけで製品の保管場所を即座に記録・確認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2880360" y="1901952"/>
            <a:ext cx="585216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2880360" y="1901952"/>
            <a:ext cx="54864" cy="658368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2999232" y="1938528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カメラで製品を探し出す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2999232" y="2231136"/>
            <a:ext cx="5577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スマホカメラでCCコードを読み取り、保管エリアを1秒で特定。探し回る時間をゼロに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2880360" y="2660904"/>
            <a:ext cx="585216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2880360" y="2660904"/>
            <a:ext cx="54864" cy="658368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2999232" y="269748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バッチスキャンで複数製品を効率登録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2999232" y="2990088"/>
            <a:ext cx="5577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棚に置きながら連続スキャン。1ロケーションに複数製品を一括登録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2880360" y="3419856"/>
            <a:ext cx="585216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2880360" y="3419856"/>
            <a:ext cx="54864" cy="658368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2999232" y="3456432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ロケーション履歴で作業スピード向上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2999232" y="3749040"/>
            <a:ext cx="5577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よく使うロケーションは履歴から1タップ選択。手入力ミスを完全排除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2880360" y="4178808"/>
            <a:ext cx="585216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2880360" y="4178808"/>
            <a:ext cx="54864" cy="658368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2999232" y="4215384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登録前の確認画面で誤登録防止</a:t>
            </a:r>
            <a:endParaRPr lang="en-US" sz="1300" dirty="0"/>
          </a:p>
        </p:txBody>
      </p:sp>
      <p:sp>
        <p:nvSpPr>
          <p:cNvPr id="28" name="Text 25"/>
          <p:cNvSpPr/>
          <p:nvPr/>
        </p:nvSpPr>
        <p:spPr>
          <a:xfrm>
            <a:off x="2999232" y="4507992"/>
            <a:ext cx="5577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スキャン内容を確認してから登録。取り消し・修正も簡単操作</a:t>
            </a:r>
            <a:endParaRPr lang="en-US" sz="1100" dirty="0"/>
          </a:p>
        </p:txBody>
      </p:sp>
      <p:sp>
        <p:nvSpPr>
          <p:cNvPr id="29" name="Text 26"/>
          <p:cNvSpPr/>
          <p:nvPr/>
        </p:nvSpPr>
        <p:spPr>
          <a:xfrm>
            <a:off x="2286000" y="48006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© 2026 InfoFarm Co., Ltd. All Rights Reserved</a:t>
            </a:r>
            <a:endParaRPr lang="en-US" sz="800" dirty="0"/>
          </a:p>
        </p:txBody>
      </p:sp>
      <p:sp>
        <p:nvSpPr>
          <p:cNvPr id="30" name="Text 27"/>
          <p:cNvSpPr/>
          <p:nvPr/>
        </p:nvSpPr>
        <p:spPr>
          <a:xfrm>
            <a:off x="7772400" y="48006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7 / 13</a:t>
            </a:r>
            <a:endParaRPr lang="en-US" sz="800" dirty="0"/>
          </a:p>
        </p:txBody>
      </p:sp>
      <p:sp>
        <p:nvSpPr>
          <p:cNvPr id="31" name="Text 28"/>
          <p:cNvSpPr/>
          <p:nvPr/>
        </p:nvSpPr>
        <p:spPr>
          <a:xfrm>
            <a:off x="7132320" y="13716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EF444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Confidential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411480" cy="91440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37160"/>
            <a:ext cx="6858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機能③ ピッキング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7132320" y="182880"/>
            <a:ext cx="1737360" cy="502920"/>
          </a:xfrm>
          <a:prstGeom prst="round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B5CF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ピッキング管理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005840"/>
            <a:ext cx="2148840" cy="3886200"/>
          </a:xfrm>
          <a:prstGeom prst="rect">
            <a:avLst/>
          </a:prstGeom>
          <a:solidFill>
            <a:srgbClr val="1A1A2E"/>
          </a:solidFill>
          <a:ln w="12700">
            <a:solidFill>
              <a:srgbClr val="2D2D4E"/>
            </a:solidFill>
            <a:prstDash val="solid"/>
          </a:ln>
          <a:effectLst>
            <a:outerShdw sx="100000" sy="100000" kx="0" ky="0" algn="bl" rotWithShape="0" blurRad="254000" dist="50800" dir="8100000">
              <a:srgbClr val="000000">
                <a:alpha val="3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252728" y="1097280"/>
            <a:ext cx="201168" cy="73152"/>
          </a:xfrm>
          <a:prstGeom prst="ellipse">
            <a:avLst/>
          </a:prstGeom>
          <a:solidFill>
            <a:srgbClr val="333355"/>
          </a:solidFill>
          <a:ln w="12700">
            <a:solidFill>
              <a:srgbClr val="333355"/>
            </a:solidFill>
            <a:prstDash val="solid"/>
          </a:ln>
        </p:spPr>
      </p:sp>
      <p:pic>
        <p:nvPicPr>
          <p:cNvPr id="8" name="Image 0" descr="/sessions/amazing-serene-darwin/screenshots/picki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5488" y="1207008"/>
            <a:ext cx="1920240" cy="356616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2880360" y="1143000"/>
            <a:ext cx="585216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2880360" y="1143000"/>
            <a:ext cx="54864" cy="658368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2999232" y="1179576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2ステップで確実なピッキング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2999232" y="1472184"/>
            <a:ext cx="5577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STEP1でリスト作成 → STEP2でCCコードをまとめスキャンして確認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2880360" y="1901952"/>
            <a:ext cx="585216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2880360" y="1901952"/>
            <a:ext cx="54864" cy="658368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2999232" y="1938528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バーコード・OCR・CCコードに対応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2999232" y="2231136"/>
            <a:ext cx="5577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3種類の入力方式に対応。製品コードの数字読み上げ誤認識も解消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2880360" y="2660904"/>
            <a:ext cx="585216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2880360" y="2660904"/>
            <a:ext cx="54864" cy="658368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2999232" y="269748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インクリメンタルサーチで製品検索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2999232" y="2990088"/>
            <a:ext cx="5577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製品名やバーコードの一部を入力するだけで候補を即時表示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2880360" y="3419856"/>
            <a:ext cx="585216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2880360" y="3419856"/>
            <a:ext cx="54864" cy="658368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2999232" y="3456432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CCコードのまとめスキャンで高速確認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2999232" y="3749040"/>
            <a:ext cx="5577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ピック済み製品のCCコードを連続スキャン。ダブルチェック完了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2880360" y="4178808"/>
            <a:ext cx="585216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2880360" y="4178808"/>
            <a:ext cx="54864" cy="658368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2999232" y="4215384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ピック漏れ・誤ピックを自動検知</a:t>
            </a:r>
            <a:endParaRPr lang="en-US" sz="1300" dirty="0"/>
          </a:p>
        </p:txBody>
      </p:sp>
      <p:sp>
        <p:nvSpPr>
          <p:cNvPr id="28" name="Text 25"/>
          <p:cNvSpPr/>
          <p:nvPr/>
        </p:nvSpPr>
        <p:spPr>
          <a:xfrm>
            <a:off x="2999232" y="4507992"/>
            <a:ext cx="5577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スキャン済み/未スキャンをリアルタイム管理。確認漏れゼロを実現</a:t>
            </a:r>
            <a:endParaRPr lang="en-US" sz="1100" dirty="0"/>
          </a:p>
        </p:txBody>
      </p:sp>
      <p:sp>
        <p:nvSpPr>
          <p:cNvPr id="29" name="Text 26"/>
          <p:cNvSpPr/>
          <p:nvPr/>
        </p:nvSpPr>
        <p:spPr>
          <a:xfrm>
            <a:off x="2286000" y="48006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© 2026 InfoFarm Co., Ltd. All Rights Reserved</a:t>
            </a:r>
            <a:endParaRPr lang="en-US" sz="800" dirty="0"/>
          </a:p>
        </p:txBody>
      </p:sp>
      <p:sp>
        <p:nvSpPr>
          <p:cNvPr id="30" name="Text 27"/>
          <p:cNvSpPr/>
          <p:nvPr/>
        </p:nvSpPr>
        <p:spPr>
          <a:xfrm>
            <a:off x="7772400" y="48006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8 / 13</a:t>
            </a:r>
            <a:endParaRPr lang="en-US" sz="800" dirty="0"/>
          </a:p>
        </p:txBody>
      </p:sp>
      <p:sp>
        <p:nvSpPr>
          <p:cNvPr id="31" name="Text 28"/>
          <p:cNvSpPr/>
          <p:nvPr/>
        </p:nvSpPr>
        <p:spPr>
          <a:xfrm>
            <a:off x="7132320" y="13716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EF444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Confidential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411480" cy="9144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37160"/>
            <a:ext cx="6858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機能④ 出荷処理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7132320" y="182880"/>
            <a:ext cx="1737360" cy="502920"/>
          </a:xfrm>
          <a:prstGeom prst="round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出荷管理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005840"/>
            <a:ext cx="2148840" cy="3886200"/>
          </a:xfrm>
          <a:prstGeom prst="rect">
            <a:avLst/>
          </a:prstGeom>
          <a:solidFill>
            <a:srgbClr val="1A1A2E"/>
          </a:solidFill>
          <a:ln w="12700">
            <a:solidFill>
              <a:srgbClr val="2D2D4E"/>
            </a:solidFill>
            <a:prstDash val="solid"/>
          </a:ln>
          <a:effectLst>
            <a:outerShdw sx="100000" sy="100000" kx="0" ky="0" algn="bl" rotWithShape="0" blurRad="254000" dist="50800" dir="8100000">
              <a:srgbClr val="000000">
                <a:alpha val="3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252728" y="1097280"/>
            <a:ext cx="201168" cy="73152"/>
          </a:xfrm>
          <a:prstGeom prst="ellipse">
            <a:avLst/>
          </a:prstGeom>
          <a:solidFill>
            <a:srgbClr val="333355"/>
          </a:solidFill>
          <a:ln w="12700">
            <a:solidFill>
              <a:srgbClr val="333355"/>
            </a:solidFill>
            <a:prstDash val="solid"/>
          </a:ln>
        </p:spPr>
      </p:sp>
      <p:pic>
        <p:nvPicPr>
          <p:cNvPr id="8" name="Image 0" descr="/sessions/amazing-serene-darwin/screenshots/shippi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5488" y="1207008"/>
            <a:ext cx="1920240" cy="356616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2880360" y="1143000"/>
            <a:ext cx="585216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2880360" y="1143000"/>
            <a:ext cx="54864" cy="65836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2999232" y="1179576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ピッキング済み製品の出荷確定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2999232" y="1472184"/>
            <a:ext cx="5577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ピック完了品をリスト表示。CCコードスキャンで最終確認後に出荷確定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2880360" y="1901952"/>
            <a:ext cx="585216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2880360" y="1901952"/>
            <a:ext cx="54864" cy="65836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2999232" y="1938528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出荷前のCCコード照合スキャン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2999232" y="2231136"/>
            <a:ext cx="5577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出荷直前に再度CCコードを読み取り。取り違い・抜け漏れを防止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2880360" y="2660904"/>
            <a:ext cx="585216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2880360" y="2660904"/>
            <a:ext cx="54864" cy="65836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2999232" y="269748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3ステップのシンプルな出荷フロー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2999232" y="2990088"/>
            <a:ext cx="5577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対象確認 → CCスキャン確認 → 出荷確定。迷わず操作できるUI設計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2880360" y="3419856"/>
            <a:ext cx="585216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2880360" y="3419856"/>
            <a:ext cx="54864" cy="65836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2999232" y="3456432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出荷確定後は在庫から自動削除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2999232" y="3749040"/>
            <a:ext cx="5577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確定と同時に在庫ステータスを更新。ダッシュボードにも即反映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2880360" y="4178808"/>
            <a:ext cx="585216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2880360" y="4178808"/>
            <a:ext cx="54864" cy="65836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2999232" y="4215384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出荷履歴のトランザクション記録</a:t>
            </a:r>
            <a:endParaRPr lang="en-US" sz="1300" dirty="0"/>
          </a:p>
        </p:txBody>
      </p:sp>
      <p:sp>
        <p:nvSpPr>
          <p:cNvPr id="28" name="Text 25"/>
          <p:cNvSpPr/>
          <p:nvPr/>
        </p:nvSpPr>
        <p:spPr>
          <a:xfrm>
            <a:off x="2999232" y="4507992"/>
            <a:ext cx="5577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日時・担当者・製品情報を自動記録。追跡・監査に対応</a:t>
            </a:r>
            <a:endParaRPr lang="en-US" sz="1100" dirty="0"/>
          </a:p>
        </p:txBody>
      </p:sp>
      <p:sp>
        <p:nvSpPr>
          <p:cNvPr id="29" name="Text 26"/>
          <p:cNvSpPr/>
          <p:nvPr/>
        </p:nvSpPr>
        <p:spPr>
          <a:xfrm>
            <a:off x="2286000" y="48006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© 2026 InfoFarm Co., Ltd. All Rights Reserved</a:t>
            </a:r>
            <a:endParaRPr lang="en-US" sz="800" dirty="0"/>
          </a:p>
        </p:txBody>
      </p:sp>
      <p:sp>
        <p:nvSpPr>
          <p:cNvPr id="30" name="Text 27"/>
          <p:cNvSpPr/>
          <p:nvPr/>
        </p:nvSpPr>
        <p:spPr>
          <a:xfrm>
            <a:off x="7772400" y="48006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9 / 13</a:t>
            </a:r>
            <a:endParaRPr lang="en-US" sz="800" dirty="0"/>
          </a:p>
        </p:txBody>
      </p:sp>
      <p:sp>
        <p:nvSpPr>
          <p:cNvPr id="31" name="Text 28"/>
          <p:cNvSpPr/>
          <p:nvPr/>
        </p:nvSpPr>
        <p:spPr>
          <a:xfrm>
            <a:off x="7132320" y="13716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EF444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Confidential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411480" cy="914400"/>
          </a:xfrm>
          <a:prstGeom prst="rect">
            <a:avLst/>
          </a:prstGeom>
          <a:solidFill>
            <a:srgbClr val="0096B7"/>
          </a:solidFill>
          <a:ln w="12700">
            <a:solidFill>
              <a:srgbClr val="0096B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371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管理ダッシュボード</a:t>
            </a:r>
            <a:endParaRPr lang="en-US" sz="2600" dirty="0"/>
          </a:p>
        </p:txBody>
      </p:sp>
      <p:pic>
        <p:nvPicPr>
          <p:cNvPr id="5" name="Image 0" descr="/sessions/amazing-serene-darwin/screenshots/dashboar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005840"/>
            <a:ext cx="5120640" cy="3600450"/>
          </a:xfrm>
          <a:prstGeom prst="rect">
            <a:avLst/>
          </a:prstGeom>
          <a:effectLst>
            <a:outerShdw sx="100000" sy="100000" kx="0" ky="0" algn="bl" rotWithShape="0" blurRad="190500" dist="38100" dir="8100000">
              <a:srgbClr val="000000">
                <a:alpha val="20000"/>
              </a:srgbClr>
            </a:outerShdw>
          </a:effectLst>
        </p:spPr>
      </p:pic>
      <p:sp>
        <p:nvSpPr>
          <p:cNvPr id="6" name="Shape 3"/>
          <p:cNvSpPr/>
          <p:nvPr/>
        </p:nvSpPr>
        <p:spPr>
          <a:xfrm>
            <a:off x="6858000" y="1051560"/>
            <a:ext cx="192024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6858000" y="1051560"/>
            <a:ext cx="54864" cy="86868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995160" y="1097280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リアルタイム在庫パイプライン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6995160" y="1399032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入庫待ち→ロケ登録→ピック→出荷の流れを即時可視化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6858000" y="2057400"/>
            <a:ext cx="192024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858000" y="2057400"/>
            <a:ext cx="54864" cy="86868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995160" y="2103120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製品所在地マップ表示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6995160" y="2404872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エリア・棚ごとの保管製品数をダッシュボードで一目把握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6858000" y="3063240"/>
            <a:ext cx="192024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6858000" y="3063240"/>
            <a:ext cx="54864" cy="86868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995160" y="3108960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直近7日間の処理量グラフ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6995160" y="3410712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4工程の推移を比較。ボトルネックを早期発見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6858000" y="4069080"/>
            <a:ext cx="192024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6858000" y="4069080"/>
            <a:ext cx="54864" cy="8686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995160" y="4114800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エージングアラート機能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6995160" y="4416552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滞留製品を自動検知してアラート通知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2286000" y="48006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© 2026 InfoFarm Co., Ltd. All Rights Reserved</a:t>
            </a:r>
            <a:endParaRPr lang="en-US" sz="800" dirty="0"/>
          </a:p>
        </p:txBody>
      </p:sp>
      <p:sp>
        <p:nvSpPr>
          <p:cNvPr id="23" name="Text 20"/>
          <p:cNvSpPr/>
          <p:nvPr/>
        </p:nvSpPr>
        <p:spPr>
          <a:xfrm>
            <a:off x="7772400" y="48006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10 / 13</a:t>
            </a:r>
            <a:endParaRPr lang="en-US" sz="800" dirty="0"/>
          </a:p>
        </p:txBody>
      </p:sp>
      <p:sp>
        <p:nvSpPr>
          <p:cNvPr id="24" name="Text 21"/>
          <p:cNvSpPr/>
          <p:nvPr/>
        </p:nvSpPr>
        <p:spPr>
          <a:xfrm>
            <a:off x="7132320" y="13716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EF444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Confidential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645920"/>
            <a:ext cx="9144000" cy="18288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pic>
        <p:nvPicPr>
          <p:cNvPr id="3" name="Image 0" descr="/sessions/amazing-serene-darwin/mnt/IroatoReader/cc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0" y="457200"/>
            <a:ext cx="2377440" cy="955548"/>
          </a:xfrm>
          <a:prstGeom prst="rect">
            <a:avLst/>
          </a:prstGeom>
        </p:spPr>
      </p:pic>
      <p:pic>
        <p:nvPicPr>
          <p:cNvPr id="4" name="Image 1" descr="/sessions/amazing-serene-darwin/mnt/IroatoReader/cc5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522476"/>
            <a:ext cx="2377440" cy="955548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457200" y="17373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00B4D8">
                    <a:alpha val="80000"/>
                  </a:srgbClr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05</a:t>
            </a:r>
            <a:endParaRPr lang="en-US" sz="6000" dirty="0"/>
          </a:p>
        </p:txBody>
      </p:sp>
      <p:sp>
        <p:nvSpPr>
          <p:cNvPr id="6" name="Text 2"/>
          <p:cNvSpPr/>
          <p:nvPr/>
        </p:nvSpPr>
        <p:spPr>
          <a:xfrm>
            <a:off x="457200" y="2194560"/>
            <a:ext cx="5943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導入メリット・</a:t>
            </a:r>
            <a:endParaRPr lang="en-US" sz="3800" dirty="0"/>
          </a:p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期待効果</a:t>
            </a:r>
            <a:endParaRPr lang="en-US" sz="3800" dirty="0"/>
          </a:p>
        </p:txBody>
      </p:sp>
      <p:sp>
        <p:nvSpPr>
          <p:cNvPr id="7" name="Text 3"/>
          <p:cNvSpPr/>
          <p:nvPr/>
        </p:nvSpPr>
        <p:spPr>
          <a:xfrm>
            <a:off x="457200" y="3520440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0B4D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カメレオンコード導入で実現できる業務改善とROI</a:t>
            </a:r>
            <a:endParaRPr lang="en-US" sz="1400" dirty="0"/>
          </a:p>
        </p:txBody>
      </p:sp>
      <p:sp>
        <p:nvSpPr>
          <p:cNvPr id="8" name="Text 4"/>
          <p:cNvSpPr/>
          <p:nvPr/>
        </p:nvSpPr>
        <p:spPr>
          <a:xfrm>
            <a:off x="2286000" y="48006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>
                    <a:alpha val="60000"/>
                  </a:srgbClr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© 2026 InfoFarm Co., Ltd. All Rights Reserved</a:t>
            </a:r>
            <a:endParaRPr lang="en-US" sz="800" dirty="0"/>
          </a:p>
        </p:txBody>
      </p:sp>
      <p:sp>
        <p:nvSpPr>
          <p:cNvPr id="9" name="Text 5"/>
          <p:cNvSpPr/>
          <p:nvPr/>
        </p:nvSpPr>
        <p:spPr>
          <a:xfrm>
            <a:off x="7772400" y="48006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>
                    <a:alpha val="60000"/>
                  </a:srgbClr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11 / 13</a:t>
            </a:r>
            <a:endParaRPr lang="en-US" sz="800" dirty="0"/>
          </a:p>
        </p:txBody>
      </p:sp>
      <p:sp>
        <p:nvSpPr>
          <p:cNvPr id="10" name="Text 6"/>
          <p:cNvSpPr/>
          <p:nvPr/>
        </p:nvSpPr>
        <p:spPr>
          <a:xfrm>
            <a:off x="7132320" y="13716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Confidential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導入メリット・期待効果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192024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005840"/>
            <a:ext cx="1920240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188720"/>
            <a:ext cx="1920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00B4D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90%↓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365760" y="224028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製品探索時間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40080" y="2743200"/>
            <a:ext cx="1371600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2880360"/>
            <a:ext cx="1737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エリアロケーション＋CCコードで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製品の保管場所を瞬時に特定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468880" y="1005840"/>
            <a:ext cx="192024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468880" y="1005840"/>
            <a:ext cx="1920240" cy="7315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468880" y="1188720"/>
            <a:ext cx="1920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22C55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60%↓</a:t>
            </a:r>
            <a:endParaRPr lang="en-US" sz="4200" dirty="0"/>
          </a:p>
        </p:txBody>
      </p:sp>
      <p:sp>
        <p:nvSpPr>
          <p:cNvPr id="13" name="Text 11"/>
          <p:cNvSpPr/>
          <p:nvPr/>
        </p:nvSpPr>
        <p:spPr>
          <a:xfrm>
            <a:off x="2468880" y="224028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入庫・登録工数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2743200" y="2743200"/>
            <a:ext cx="1371600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560320" y="2880360"/>
            <a:ext cx="1737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バッチスキャン処理により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1件あたりの処理時間を大幅短縮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0" y="1005840"/>
            <a:ext cx="192024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572000" y="1005840"/>
            <a:ext cx="1920240" cy="73152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0" y="1188720"/>
            <a:ext cx="1920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8B5CF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即時</a:t>
            </a:r>
            <a:endParaRPr lang="en-US" sz="4200" dirty="0"/>
          </a:p>
        </p:txBody>
      </p:sp>
      <p:sp>
        <p:nvSpPr>
          <p:cNvPr id="19" name="Text 17"/>
          <p:cNvSpPr/>
          <p:nvPr/>
        </p:nvSpPr>
        <p:spPr>
          <a:xfrm>
            <a:off x="4572000" y="224028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在庫所在可視化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4846320" y="2743200"/>
            <a:ext cx="1371600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663440" y="2880360"/>
            <a:ext cx="1737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全工程リアルタイム更新で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製品の在庫状況と場所を常に把握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675120" y="1005840"/>
            <a:ext cx="192024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675120" y="1005840"/>
            <a:ext cx="1920240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675120" y="1188720"/>
            <a:ext cx="1920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59E0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0円</a:t>
            </a:r>
            <a:endParaRPr lang="en-US" sz="4200" dirty="0"/>
          </a:p>
        </p:txBody>
      </p:sp>
      <p:sp>
        <p:nvSpPr>
          <p:cNvPr id="25" name="Text 23"/>
          <p:cNvSpPr/>
          <p:nvPr/>
        </p:nvSpPr>
        <p:spPr>
          <a:xfrm>
            <a:off x="6675120" y="224028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スキャナー投資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6949440" y="2743200"/>
            <a:ext cx="1371600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766560" y="2880360"/>
            <a:ext cx="1737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スマートフォンのみで運用可能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専用ハード不要でコスト削減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65760" y="4434840"/>
            <a:ext cx="8412480" cy="4114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7200" y="445312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B4D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スマートフォンとカメレオンコードで、製品所在地の瞬時把握と倉庫業務のDXを今すぐ実現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2286000" y="48006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© 2026 InfoFarm Co., Ltd. All Rights Reserved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7772400" y="48006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12 / 13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7132320" y="13716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EF444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Confidential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1628">
              <a:alpha val="50000"/>
            </a:srgbClr>
          </a:solidFill>
          <a:ln w="12700">
            <a:solidFill>
              <a:srgbClr val="0A1628">
                <a:alpha val="50000"/>
              </a:srgbClr>
            </a:solidFill>
            <a:prstDash val="solid"/>
          </a:ln>
        </p:spPr>
      </p:sp>
      <p:pic>
        <p:nvPicPr>
          <p:cNvPr id="3" name="Image 0" descr="/sessions/amazing-serene-darwin/mnt/IroatoReader/cc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75120" y="365760"/>
            <a:ext cx="2194560" cy="882396"/>
          </a:xfrm>
          <a:prstGeom prst="rect">
            <a:avLst/>
          </a:prstGeom>
        </p:spPr>
      </p:pic>
      <p:pic>
        <p:nvPicPr>
          <p:cNvPr id="4" name="Image 1" descr="/sessions/amazing-serene-darwin/mnt/IroatoReader/cc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0" y="1357884"/>
            <a:ext cx="2194560" cy="882396"/>
          </a:xfrm>
          <a:prstGeom prst="rect">
            <a:avLst/>
          </a:prstGeom>
        </p:spPr>
      </p:pic>
      <p:pic>
        <p:nvPicPr>
          <p:cNvPr id="5" name="Image 2" descr="/sessions/amazing-serene-darwin/mnt/IroatoReader/cc3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120" y="2350008"/>
            <a:ext cx="2194560" cy="882396"/>
          </a:xfrm>
          <a:prstGeom prst="rect">
            <a:avLst/>
          </a:prstGeom>
        </p:spPr>
      </p:pic>
      <p:pic>
        <p:nvPicPr>
          <p:cNvPr id="6" name="Image 3" descr="/sessions/amazing-serene-darwin/mnt/IroatoReader/cc4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75120" y="3342132"/>
            <a:ext cx="2194560" cy="882396"/>
          </a:xfrm>
          <a:prstGeom prst="rect">
            <a:avLst/>
          </a:prstGeom>
        </p:spPr>
      </p:pic>
      <p:sp>
        <p:nvSpPr>
          <p:cNvPr id="7" name="Text 1"/>
          <p:cNvSpPr/>
          <p:nvPr/>
        </p:nvSpPr>
        <p:spPr>
          <a:xfrm>
            <a:off x="457200" y="640080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00B4D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導入・デモのご相談は</a:t>
            </a:r>
            <a:endParaRPr lang="en-US" sz="1800" dirty="0"/>
          </a:p>
        </p:txBody>
      </p:sp>
      <p:sp>
        <p:nvSpPr>
          <p:cNvPr id="8" name="Text 2"/>
          <p:cNvSpPr/>
          <p:nvPr/>
        </p:nvSpPr>
        <p:spPr>
          <a:xfrm>
            <a:off x="457200" y="1097280"/>
            <a:ext cx="5943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お気軽にお問い合わせ</a:t>
            </a:r>
            <a:endParaRPr lang="en-US" sz="3600" dirty="0"/>
          </a:p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ください</a:t>
            </a:r>
            <a:endParaRPr lang="en-US" sz="3600" dirty="0"/>
          </a:p>
        </p:txBody>
      </p:sp>
      <p:sp>
        <p:nvSpPr>
          <p:cNvPr id="9" name="Shape 3"/>
          <p:cNvSpPr/>
          <p:nvPr/>
        </p:nvSpPr>
        <p:spPr>
          <a:xfrm>
            <a:off x="457200" y="2743200"/>
            <a:ext cx="5760720" cy="1645920"/>
          </a:xfrm>
          <a:prstGeom prst="rect">
            <a:avLst/>
          </a:prstGeom>
          <a:solidFill>
            <a:srgbClr val="0D1B2A"/>
          </a:solidFill>
          <a:ln w="12700">
            <a:solidFill>
              <a:srgbClr val="0096B7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0000"/>
              </a:srgbClr>
            </a:outerShdw>
          </a:effectLst>
        </p:spPr>
      </p:sp>
      <p:sp>
        <p:nvSpPr>
          <p:cNvPr id="10" name="Text 4"/>
          <p:cNvSpPr/>
          <p:nvPr/>
        </p:nvSpPr>
        <p:spPr>
          <a:xfrm>
            <a:off x="640080" y="283464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InfoFarm Co., Ltd.</a:t>
            </a:r>
            <a:endParaRPr lang="en-US" sz="1800" dirty="0"/>
          </a:p>
        </p:txBody>
      </p:sp>
      <p:sp>
        <p:nvSpPr>
          <p:cNvPr id="11" name="Text 5"/>
          <p:cNvSpPr/>
          <p:nvPr/>
        </p:nvSpPr>
        <p:spPr>
          <a:xfrm>
            <a:off x="640080" y="329184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899B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E-Mail : </a:t>
            </a:r>
            <a:pPr indent="0" marL="0">
              <a:buNone/>
            </a:pPr>
            <a:r>
              <a:rPr lang="en-US" sz="1400" dirty="0">
                <a:solidFill>
                  <a:srgbClr val="00B4D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info@infofarm.co.jp</a:t>
            </a:r>
            <a:endParaRPr lang="en-US" sz="1400" dirty="0"/>
          </a:p>
        </p:txBody>
      </p:sp>
      <p:sp>
        <p:nvSpPr>
          <p:cNvPr id="12" name="Text 6"/>
          <p:cNvSpPr/>
          <p:nvPr/>
        </p:nvSpPr>
        <p:spPr>
          <a:xfrm>
            <a:off x="640080" y="365760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899B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Web : </a:t>
            </a:r>
            <a:pPr indent="0" marL="0">
              <a:buNone/>
            </a:pPr>
            <a:r>
              <a:rPr lang="en-US" sz="1400" dirty="0">
                <a:solidFill>
                  <a:srgbClr val="00B4D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https://infofarm.co.jp</a:t>
            </a:r>
            <a:endParaRPr lang="en-US" sz="1400" dirty="0"/>
          </a:p>
        </p:txBody>
      </p:sp>
      <p:sp>
        <p:nvSpPr>
          <p:cNvPr id="13" name="Text 7"/>
          <p:cNvSpPr/>
          <p:nvPr/>
        </p:nvSpPr>
        <p:spPr>
          <a:xfrm>
            <a:off x="640080" y="4041648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カメレオンコード技術の詳細デモ・無料トライアルのご案内も承っております</a:t>
            </a:r>
            <a:endParaRPr lang="en-US" sz="1000" dirty="0"/>
          </a:p>
        </p:txBody>
      </p:sp>
      <p:sp>
        <p:nvSpPr>
          <p:cNvPr id="14" name="Text 8"/>
          <p:cNvSpPr/>
          <p:nvPr/>
        </p:nvSpPr>
        <p:spPr>
          <a:xfrm>
            <a:off x="2286000" y="48006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>
                    <a:alpha val="60000"/>
                  </a:srgbClr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© 2026 InfoFarm Co., Ltd. All Rights Reserved</a:t>
            </a:r>
            <a:endParaRPr lang="en-US" sz="800" dirty="0"/>
          </a:p>
        </p:txBody>
      </p:sp>
      <p:sp>
        <p:nvSpPr>
          <p:cNvPr id="15" name="Text 9"/>
          <p:cNvSpPr/>
          <p:nvPr/>
        </p:nvSpPr>
        <p:spPr>
          <a:xfrm>
            <a:off x="7772400" y="48006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>
                    <a:alpha val="60000"/>
                  </a:srgbClr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13 / 13</a:t>
            </a:r>
            <a:endParaRPr lang="en-US" sz="800" dirty="0"/>
          </a:p>
        </p:txBody>
      </p:sp>
      <p:sp>
        <p:nvSpPr>
          <p:cNvPr id="16" name="Text 10"/>
          <p:cNvSpPr/>
          <p:nvPr/>
        </p:nvSpPr>
        <p:spPr>
          <a:xfrm>
            <a:off x="7132320" y="13716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Confidential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カメレオンコードWMSソリューション 提案書</dc:title>
  <dc:subject>PptxGenJS Presentation</dc:subject>
  <dc:creator>InfoFarm Co., Ltd.</dc:creator>
  <cp:lastModifiedBy>InfoFarm Co., Ltd.</cp:lastModifiedBy>
  <cp:revision>1</cp:revision>
  <dcterms:created xsi:type="dcterms:W3CDTF">2026-03-11T12:16:06Z</dcterms:created>
  <dcterms:modified xsi:type="dcterms:W3CDTF">2026-03-11T12:16:06Z</dcterms:modified>
</cp:coreProperties>
</file>